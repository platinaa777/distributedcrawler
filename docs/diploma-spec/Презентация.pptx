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232A47-389A-4B39-B03E-8B80AD7340F8}">
  <a:tblStyle styleId="{80232A47-389A-4B39-B03E-8B80AD7340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.apify.com/state-of-web-scraping/?utm_source=chatgpt.com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dd148e59e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bdd148e59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dd148e59e_0_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bdd148e59e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dd148e59e_0_1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bdd148e59e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dd148e59e_0_2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bdd148e59e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dd148e59e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bdd148e59e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eb360c2d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eb360c2dd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eb360c2d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dd148e59e_0_3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bdd148e59e_0_3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eb360c2dd_0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ceb360c2dd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eb360c2dd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ceb360c2dd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dd148e59e_0_3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bdd148e59e_0_3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eb360c2dd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eb360c2dd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eb360c2dd_0_4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eb360c2dd_0_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eb360c2dd_0_4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ceb360c2dd_0_4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eb360c2dd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eb360c2dd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eb360c2dd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061d7fa6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d061d7fa6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061d7fa69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d061d7fa69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08eada2c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08eada2c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08eada2c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dd148e59e_0_4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u="sng">
                <a:solidFill>
                  <a:schemeClr val="hlink"/>
                </a:solidFill>
                <a:hlinkClick r:id="rId2"/>
              </a:rPr>
              <a:t>https://blog.apify.com/state-of-web-scraping/?utm_source=chatgpt.com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https://www.marketresearchfuture.com/reports/web-scraper-software-market-10347?utm_source=chatgpt.com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bdd148e59e_0_4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" name="Google Shape;41;p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3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3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5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" name="Google Shape;67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" name="Google Shape;68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5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"/>
          <p:cNvSpPr/>
          <p:nvPr>
            <p:ph idx="6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"/>
          <p:cNvSpPr/>
          <p:nvPr>
            <p:ph idx="5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6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7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8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"/>
          <p:cNvSpPr txBox="1"/>
          <p:nvPr>
            <p:ph idx="4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8"/>
          <p:cNvSpPr txBox="1"/>
          <p:nvPr>
            <p:ph idx="5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8"/>
          <p:cNvSpPr txBox="1"/>
          <p:nvPr>
            <p:ph idx="6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7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8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"/>
          <p:cNvSpPr txBox="1"/>
          <p:nvPr>
            <p:ph idx="9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4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1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1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0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0"/>
          <p:cNvSpPr txBox="1"/>
          <p:nvPr>
            <p:ph idx="4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0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0"/>
          <p:cNvSpPr txBox="1"/>
          <p:nvPr>
            <p:ph idx="6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3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3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3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презентации">
  <p:cSld name="Титульный слайд презентации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3503612" y="116681"/>
            <a:ext cx="7740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2000"/>
              <a:buFont typeface="Arial"/>
              <a:buNone/>
              <a:defRPr b="0" sz="2700"/>
            </a:lvl1pPr>
            <a:lvl2pPr indent="-3429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14"/>
          <p:cNvSpPr txBox="1"/>
          <p:nvPr>
            <p:ph idx="2" type="body"/>
          </p:nvPr>
        </p:nvSpPr>
        <p:spPr>
          <a:xfrm>
            <a:off x="3517248" y="1160475"/>
            <a:ext cx="7740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2000"/>
              <a:buFont typeface="Arial"/>
              <a:buNone/>
              <a:defRPr sz="2700">
                <a:solidFill>
                  <a:srgbClr val="0F2C68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14"/>
          <p:cNvSpPr txBox="1"/>
          <p:nvPr>
            <p:ph idx="3" type="body"/>
          </p:nvPr>
        </p:nvSpPr>
        <p:spPr>
          <a:xfrm>
            <a:off x="3503612" y="2468893"/>
            <a:ext cx="7740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3200"/>
              <a:buFont typeface="Arial"/>
              <a:buNone/>
              <a:defRPr b="1" sz="4300"/>
            </a:lvl1pPr>
            <a:lvl2pPr indent="-3429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4"/>
          <p:cNvSpPr txBox="1"/>
          <p:nvPr>
            <p:ph idx="4" type="body"/>
          </p:nvPr>
        </p:nvSpPr>
        <p:spPr>
          <a:xfrm>
            <a:off x="8113184" y="3524252"/>
            <a:ext cx="4021500" cy="2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14"/>
          <p:cNvSpPr txBox="1"/>
          <p:nvPr>
            <p:ph idx="5" type="body"/>
          </p:nvPr>
        </p:nvSpPr>
        <p:spPr>
          <a:xfrm>
            <a:off x="5760625" y="6273403"/>
            <a:ext cx="3051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2000"/>
              <a:buFont typeface="Arial"/>
              <a:buNone/>
              <a:defRPr sz="2700"/>
            </a:lvl1pPr>
            <a:lvl2pPr indent="-3429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6" name="Google Shape;186;p14"/>
          <p:cNvGrpSpPr/>
          <p:nvPr/>
        </p:nvGrpSpPr>
        <p:grpSpPr>
          <a:xfrm>
            <a:off x="0" y="-27384"/>
            <a:ext cx="2988325" cy="6912864"/>
            <a:chOff x="0" y="16616"/>
            <a:chExt cx="2241300" cy="5143500"/>
          </a:xfrm>
        </p:grpSpPr>
        <p:sp>
          <p:nvSpPr>
            <p:cNvPr id="187" name="Google Shape;187;p14"/>
            <p:cNvSpPr/>
            <p:nvPr/>
          </p:nvSpPr>
          <p:spPr>
            <a:xfrm>
              <a:off x="0" y="16616"/>
              <a:ext cx="2241300" cy="5143500"/>
            </a:xfrm>
            <a:prstGeom prst="rect">
              <a:avLst/>
            </a:prstGeom>
            <a:solidFill>
              <a:srgbClr val="0F2C68"/>
            </a:solidFill>
            <a:ln>
              <a:noFill/>
            </a:ln>
            <a:effectLst>
              <a:outerShdw blurRad="67733" rotWithShape="0" dir="5400000" dist="33867">
                <a:srgbClr val="000000">
                  <a:alpha val="49410"/>
                </a:srgbClr>
              </a:outerShdw>
            </a:effectLst>
          </p:spPr>
          <p:txBody>
            <a:bodyPr anchorCtr="0" anchor="ctr" bIns="95225" lIns="95225" spcFirstLastPara="1" rIns="95225" wrap="square" tIns="95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8" name="Google Shape;188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2599" y="280793"/>
              <a:ext cx="936104" cy="9404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иний заголовок и текст">
  <p:cSld name="Синий заголовок и текст"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5"/>
          <p:cNvGrpSpPr/>
          <p:nvPr/>
        </p:nvGrpSpPr>
        <p:grpSpPr>
          <a:xfrm>
            <a:off x="0" y="-27384"/>
            <a:ext cx="12192095" cy="1412765"/>
            <a:chOff x="0" y="4142"/>
            <a:chExt cx="9144300" cy="1059600"/>
          </a:xfrm>
        </p:grpSpPr>
        <p:sp>
          <p:nvSpPr>
            <p:cNvPr id="191" name="Google Shape;191;p15"/>
            <p:cNvSpPr/>
            <p:nvPr/>
          </p:nvSpPr>
          <p:spPr>
            <a:xfrm>
              <a:off x="0" y="4142"/>
              <a:ext cx="9144300" cy="1059600"/>
            </a:xfrm>
            <a:prstGeom prst="rect">
              <a:avLst/>
            </a:prstGeom>
            <a:solidFill>
              <a:srgbClr val="0F2C68"/>
            </a:solidFill>
            <a:ln>
              <a:noFill/>
            </a:ln>
            <a:effectLst>
              <a:outerShdw blurRad="67733" rotWithShape="0" dir="5400000" dist="33867">
                <a:srgbClr val="000000">
                  <a:alpha val="49410"/>
                </a:srgbClr>
              </a:outerShdw>
            </a:effectLst>
          </p:spPr>
          <p:txBody>
            <a:bodyPr anchorCtr="0" anchor="ctr" bIns="95225" lIns="95225" spcFirstLastPara="1" rIns="95225" wrap="square" tIns="95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6000" y="47076"/>
              <a:ext cx="936104" cy="940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4" name="Google Shape;194;p15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335360" y="1508787"/>
            <a:ext cx="11617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None/>
              <a:defRPr sz="21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Char char="•"/>
              <a:defRPr sz="21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Char char="•"/>
              <a:defRPr sz="21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Char char="•"/>
              <a:defRPr sz="21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C68"/>
              </a:buClr>
              <a:buSzPts val="1600"/>
              <a:buFont typeface="Arial"/>
              <a:buChar char="•"/>
              <a:defRPr sz="2100"/>
            </a:lvl5pPr>
            <a:lvl6pPr indent="-342900" lvl="5" marL="27432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6" name="Google Shape;196;p15"/>
          <p:cNvCxnSpPr/>
          <p:nvPr/>
        </p:nvCxnSpPr>
        <p:spPr>
          <a:xfrm>
            <a:off x="0" y="6489341"/>
            <a:ext cx="12134400" cy="0"/>
          </a:xfrm>
          <a:prstGeom prst="straightConnector1">
            <a:avLst/>
          </a:prstGeom>
          <a:noFill/>
          <a:ln cap="flat" cmpd="sng" w="16925">
            <a:solidFill>
              <a:srgbClr val="0F2C68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7" name="Google Shape;197;p15"/>
          <p:cNvSpPr txBox="1"/>
          <p:nvPr/>
        </p:nvSpPr>
        <p:spPr>
          <a:xfrm>
            <a:off x="119336" y="6561348"/>
            <a:ext cx="3635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  <a:t>ФКН, ОП Программная инженерия, 2025</a:t>
            </a:r>
            <a:endParaRPr b="0" i="0" sz="1200" u="none" cap="none" strike="noStrike">
              <a:solidFill>
                <a:srgbClr val="0F2C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 txBox="1"/>
          <p:nvPr>
            <p:ph idx="11" type="ftr"/>
          </p:nvPr>
        </p:nvSpPr>
        <p:spPr>
          <a:xfrm>
            <a:off x="3215680" y="6501341"/>
            <a:ext cx="83529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3" Type="http://schemas.openxmlformats.org/officeDocument/2006/relationships/image" Target="../media/image30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15" Type="http://schemas.openxmlformats.org/officeDocument/2006/relationships/image" Target="../media/image24.png"/><Relationship Id="rId14" Type="http://schemas.openxmlformats.org/officeDocument/2006/relationships/image" Target="../media/image31.png"/><Relationship Id="rId17" Type="http://schemas.openxmlformats.org/officeDocument/2006/relationships/image" Target="../media/image32.png"/><Relationship Id="rId16" Type="http://schemas.openxmlformats.org/officeDocument/2006/relationships/image" Target="../media/image26.png"/><Relationship Id="rId5" Type="http://schemas.openxmlformats.org/officeDocument/2006/relationships/image" Target="../media/image13.png"/><Relationship Id="rId19" Type="http://schemas.openxmlformats.org/officeDocument/2006/relationships/image" Target="../media/image35.png"/><Relationship Id="rId6" Type="http://schemas.openxmlformats.org/officeDocument/2006/relationships/image" Target="../media/image15.png"/><Relationship Id="rId18" Type="http://schemas.openxmlformats.org/officeDocument/2006/relationships/image" Target="../media/image37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CYXCntC7UmE0UJ-VZ3lVlpOpS6TFnxSJ/view" TargetMode="External"/><Relationship Id="rId4" Type="http://schemas.openxmlformats.org/officeDocument/2006/relationships/image" Target="../media/image41.jp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helm.sh/" TargetMode="External"/><Relationship Id="rId10" Type="http://schemas.openxmlformats.org/officeDocument/2006/relationships/hyperlink" Target="https://kubernetes.io/" TargetMode="External"/><Relationship Id="rId13" Type="http://schemas.openxmlformats.org/officeDocument/2006/relationships/hyperlink" Target="https://kafka.apache.org/" TargetMode="External"/><Relationship Id="rId12" Type="http://schemas.openxmlformats.org/officeDocument/2006/relationships/hyperlink" Target="https://www.rabbitmq.com/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o.dev/" TargetMode="External"/><Relationship Id="rId4" Type="http://schemas.openxmlformats.org/officeDocument/2006/relationships/hyperlink" Target="https://angular.dev/" TargetMode="External"/><Relationship Id="rId9" Type="http://schemas.openxmlformats.org/officeDocument/2006/relationships/hyperlink" Target="https://www.docker.com/" TargetMode="External"/><Relationship Id="rId15" Type="http://schemas.openxmlformats.org/officeDocument/2006/relationships/hyperlink" Target="https://www.postgresql.org/" TargetMode="External"/><Relationship Id="rId14" Type="http://schemas.openxmlformats.org/officeDocument/2006/relationships/hyperlink" Target="https://redis.io/" TargetMode="External"/><Relationship Id="rId17" Type="http://schemas.openxmlformats.org/officeDocument/2006/relationships/hyperlink" Target="https://prometheus.io/" TargetMode="External"/><Relationship Id="rId16" Type="http://schemas.openxmlformats.org/officeDocument/2006/relationships/hyperlink" Target="https://grafana.com/" TargetMode="External"/><Relationship Id="rId5" Type="http://schemas.openxmlformats.org/officeDocument/2006/relationships/hyperlink" Target="https://developer.mozilla.org/en-US/docs/Web/HTML" TargetMode="External"/><Relationship Id="rId6" Type="http://schemas.openxmlformats.org/officeDocument/2006/relationships/hyperlink" Target="https://developer.mozilla.org/en-US/docs/Web/CSS" TargetMode="External"/><Relationship Id="rId7" Type="http://schemas.openxmlformats.org/officeDocument/2006/relationships/hyperlink" Target="https://git-scm.com/" TargetMode="External"/><Relationship Id="rId8" Type="http://schemas.openxmlformats.org/officeDocument/2006/relationships/hyperlink" Target="https://github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/>
        </p:nvSpPr>
        <p:spPr>
          <a:xfrm>
            <a:off x="3365600" y="2219067"/>
            <a:ext cx="7550400" cy="20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ru-RU" sz="2400">
                <a:solidFill>
                  <a:schemeClr val="dk1"/>
                </a:solidFill>
              </a:rPr>
              <a:t>Распределенная система сбора и обработки веб-данных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ru-RU" sz="2400">
                <a:solidFill>
                  <a:schemeClr val="dk1"/>
                </a:solidFill>
              </a:rPr>
              <a:t>Distributed System for Collecting and Processing Web Data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2974800" y="90367"/>
            <a:ext cx="92172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  <a:t>Факультет компьютерных наук</a:t>
            </a:r>
            <a:br>
              <a:rPr b="0" i="0" lang="ru-RU" sz="18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«Программная инженерия»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</a:t>
            </a:r>
            <a:endParaRPr b="0" i="0" sz="1800" u="none" cap="none" strike="noStrike">
              <a:solidFill>
                <a:srgbClr val="0F2C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6852084" y="6278611"/>
            <a:ext cx="126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F2C68"/>
                </a:solidFill>
                <a:latin typeface="Arial"/>
                <a:ea typeface="Arial"/>
                <a:cs typeface="Arial"/>
                <a:sym typeface="Arial"/>
              </a:rPr>
              <a:t>Москва, 2026</a:t>
            </a:r>
            <a:endParaRPr b="0" i="0" sz="1400" u="none" cap="none" strike="noStrike">
              <a:solidFill>
                <a:srgbClr val="0F2C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158633" y="1895800"/>
            <a:ext cx="2679900" cy="4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2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Выполнил: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2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Студент группы БПИ225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2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образовательной программы 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2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«Программная инженерия»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lang="ru-RU" sz="1700">
                <a:solidFill>
                  <a:schemeClr val="lt1"/>
                </a:solidFill>
              </a:rPr>
              <a:t>Мирошниченко Денис Александрович</a:t>
            </a:r>
            <a:endParaRPr b="1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2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Руководитель: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</a:rPr>
              <a:t>доцент департамента программной инженерии ФКН НИУ ВШЭ, кандидат экономических наук</a:t>
            </a:r>
            <a:r>
              <a:rPr b="1" lang="ru-RU" sz="1600">
                <a:solidFill>
                  <a:schemeClr val="lt1"/>
                </a:solidFill>
              </a:rPr>
              <a:t> Лебедев Сергей Аркадьевич</a:t>
            </a:r>
            <a:endParaRPr b="1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p17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Описание 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предметной области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 txBox="1"/>
          <p:nvPr>
            <p:ph idx="1" type="body"/>
          </p:nvPr>
        </p:nvSpPr>
        <p:spPr>
          <a:xfrm>
            <a:off x="363275" y="1532700"/>
            <a:ext cx="5517900" cy="4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rmAutofit fontScale="85000" lnSpcReduction="20000"/>
          </a:bodyPr>
          <a:lstStyle/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Необходимость автоматизированного сбора и анализа больших объёмов веб-данных</a:t>
            </a:r>
            <a:br>
              <a:rPr lang="ru-RU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Распределённые системы обхода веб-страниц позволяют выполнять масштабируемый и параллельный сбор данных</a:t>
            </a:r>
            <a:br>
              <a:rPr lang="ru-RU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Высокая производительность и отказоустойчивость достигаются за счёт распределённой архитектуры</a:t>
            </a:r>
            <a:br>
              <a:rPr lang="ru-RU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Области применения: маркетинг, SEO-анализ, бизнес-аналитика, научные исследования, Big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075" y="2168637"/>
            <a:ext cx="5119433" cy="328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2" name="Google Shape;222;p18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Актуальность работы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>
            <p:ph idx="4294967295" type="body"/>
          </p:nvPr>
        </p:nvSpPr>
        <p:spPr>
          <a:xfrm>
            <a:off x="8701791" y="3846249"/>
            <a:ext cx="27072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Прогнозируемый рост к 2035 году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 txBox="1"/>
          <p:nvPr>
            <p:ph type="title"/>
          </p:nvPr>
        </p:nvSpPr>
        <p:spPr>
          <a:xfrm>
            <a:off x="8757596" y="2293699"/>
            <a:ext cx="25956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ru-RU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3.49 млрд USD</a:t>
            </a:r>
            <a:endParaRPr b="1" sz="4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177050" y="2275600"/>
            <a:ext cx="3298500" cy="9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28" name="Google Shape;228;p18" title="Untitled 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050" y="3328089"/>
            <a:ext cx="3298501" cy="279608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>
            <p:ph idx="4294967295" type="body"/>
          </p:nvPr>
        </p:nvSpPr>
        <p:spPr>
          <a:xfrm>
            <a:off x="243591" y="3828146"/>
            <a:ext cx="27072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2400">
                <a:latin typeface="Arial"/>
                <a:ea typeface="Arial"/>
                <a:cs typeface="Arial"/>
                <a:sym typeface="Arial"/>
              </a:rPr>
              <a:t>Объём глобального рынка систем веб-скрапинга в 2024 году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>
            <p:ph type="title"/>
          </p:nvPr>
        </p:nvSpPr>
        <p:spPr>
          <a:xfrm>
            <a:off x="299396" y="2275597"/>
            <a:ext cx="25956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ru-RU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1.01 млрд USD</a:t>
            </a:r>
            <a:endParaRPr b="1" sz="4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6" name="Google Shape;236;p19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Цель и задачи ВКР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61850" y="1449400"/>
            <a:ext cx="121920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</a:rPr>
              <a:t>Цель работы: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Разработка распределенной системы сбора и обработки веб данных, обеспечивающей автоматизированный сбор, обработку и хранение веб-данных с возможностью масштабирования и централизованного управления через веб-интерфейс.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</a:rPr>
              <a:t>Задачи работы: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800"/>
              <a:buChar char="●"/>
            </a:pPr>
            <a:r>
              <a:rPr lang="ru-RU" sz="2400">
                <a:solidFill>
                  <a:schemeClr val="dk1"/>
                </a:solidFill>
              </a:rPr>
              <a:t>Спроектировать масштабируемую архитектуру распределённой системы краулинга.</a:t>
            </a:r>
            <a:endParaRPr sz="2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00"/>
              <a:buChar char="●"/>
            </a:pPr>
            <a:r>
              <a:rPr lang="ru-RU" sz="2400">
                <a:solidFill>
                  <a:schemeClr val="dk1"/>
                </a:solidFill>
              </a:rPr>
              <a:t>Реализовать автоматизированный сбор и обработку веб-данных.</a:t>
            </a:r>
            <a:endParaRPr sz="2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00"/>
              <a:buChar char="●"/>
            </a:pPr>
            <a:r>
              <a:rPr lang="ru-RU" sz="2400">
                <a:solidFill>
                  <a:schemeClr val="dk1"/>
                </a:solidFill>
              </a:rPr>
              <a:t>Создать веб-интерфейс для управления задачами и мониторинга процессов.</a:t>
            </a:r>
            <a:endParaRPr sz="2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00"/>
              <a:buChar char="●"/>
            </a:pPr>
            <a:r>
              <a:rPr lang="ru-RU" sz="2400">
                <a:solidFill>
                  <a:schemeClr val="dk1"/>
                </a:solidFill>
              </a:rPr>
              <a:t>Обеспечить надёжность, отказоустойчивость и удобство развертывания системы.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5" name="Google Shape;245;p20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Существующие аналоги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25" y="1645400"/>
            <a:ext cx="4636350" cy="25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475" y="1316625"/>
            <a:ext cx="4548461" cy="247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3350" y="3410951"/>
            <a:ext cx="3972650" cy="297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4037" y="3665362"/>
            <a:ext cx="4727474" cy="24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</p:spPr>
        <p:txBody>
          <a:bodyPr anchorCtr="0" anchor="ctr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Существующие аналоги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" name="Google Shape;258;p21"/>
          <p:cNvGraphicFramePr/>
          <p:nvPr/>
        </p:nvGraphicFramePr>
        <p:xfrm>
          <a:off x="196125" y="152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{80232A47-389A-4B39-B03E-8B80AD7340F8}</a:tableStyleId>
              </a:tblPr>
              <a:tblGrid>
                <a:gridCol w="3639375"/>
                <a:gridCol w="1562525"/>
                <a:gridCol w="1659900"/>
                <a:gridCol w="1758000"/>
                <a:gridCol w="1618950"/>
                <a:gridCol w="1561000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This project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Apache Nutch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Scrapy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StormCrawler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Colly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Горизонтальная масштабируемость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Централизованное управление задачами обхода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Хранение исходного HTML и результатов парсинга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Простота развертывания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1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Контейнеризация (Docker / Kubernetes)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Независимость от стека Big Data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8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Веб-интерфейс для управления и мониторинг</a:t>
                      </a:r>
                      <a:r>
                        <a:rPr b="1" lang="ru-RU"/>
                        <a:t>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3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Поддержка OpenTelemetry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-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9" name="Google Shape;2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6" name="Google Shape;266;p22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605" y="1469013"/>
            <a:ext cx="7162789" cy="486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5" name="Google Shape;275;p23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119550" y="1471088"/>
            <a:ext cx="119529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Coordinator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Координатор управляет выполнением задач обхода сайтов и распределяет задачи между рабочими узлами.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Он реализует планирование выполнения задач и балансировку нагрузки между очередями обхода.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Fetch Worker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Fetch Worker отвечает за загрузку веб-страниц с внешних сайтов.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Он применяет ограничения скорости запросов (rate limiting), политики повторных попыток (retry) и сохраняет исходный HTML-контент в объектном хранилище.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Parser Worker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Parser Worker обрабатывает загруженные HTML-страницы и извлекает структурированные данные в соответствии с заранее заданными правилами парсинга и селекторами.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Полученные данные нормализуются и сохраняются для дальнейшего анализа.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3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5" name="Google Shape;285;p24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19550" y="1316625"/>
            <a:ext cx="11952900" cy="5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Export Worker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Export Worker агрегирует обработанные данные и формирует файлы экспорта в распространённых форматах, таких как JSON или CSV.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Это позволяет пользователям скачивать и анализировать собранные результаты.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Web UI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Предоставляет веб-интерфейс для управления задачами обхода сайтов, мониторинга состояния системы и анализа собранных данных.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Пользователи могут создавать задачи, отслеживать прогресс их выполнения и экспортировать результаты через интерфейс.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Message Bus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Обеспечивает асинхронное взаимодействие между компонентами системы.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Используется для передачи задач и событий между сервисами и рабочими узлами с использованием технологий, таких как RabbitMQ или Kafka.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89" name="Google Shape;289;p24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5" name="Google Shape;295;p25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ТЕХНОЛОГИИ И ИНСТРУМЕНТЫ РЕАЛИЗАЦИИ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602950" y="4396100"/>
            <a:ext cx="11127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Инструменты разработки:</a:t>
            </a:r>
            <a:r>
              <a:rPr lang="ru-RU" sz="2000">
                <a:solidFill>
                  <a:schemeClr val="dk1"/>
                </a:solidFill>
              </a:rPr>
              <a:t> Golang, Angular, CSS, HTML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Инструменты версионирования:</a:t>
            </a:r>
            <a:r>
              <a:rPr lang="ru-RU" sz="2000">
                <a:solidFill>
                  <a:schemeClr val="dk1"/>
                </a:solidFill>
              </a:rPr>
              <a:t> Git, GitHub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Инструменты для деплоя:</a:t>
            </a:r>
            <a:r>
              <a:rPr lang="ru-RU" sz="2000">
                <a:solidFill>
                  <a:schemeClr val="dk1"/>
                </a:solidFill>
              </a:rPr>
              <a:t> Docker, Kubernetes, Helm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Инфраструктура:</a:t>
            </a:r>
            <a:r>
              <a:rPr lang="ru-RU" sz="2000">
                <a:solidFill>
                  <a:schemeClr val="dk1"/>
                </a:solidFill>
              </a:rPr>
              <a:t> RabbitMQ, Kafka, Redis, PostgreSQL, Grafana, Jaeger, Prometheus</a:t>
            </a:r>
            <a:endParaRPr sz="1000"/>
          </a:p>
        </p:txBody>
      </p:sp>
      <p:pic>
        <p:nvPicPr>
          <p:cNvPr id="299" name="Google Shape;2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00" y="1630400"/>
            <a:ext cx="1112025" cy="9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700" y="1663663"/>
            <a:ext cx="915225" cy="91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6163" y="1549725"/>
            <a:ext cx="1143126" cy="114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3544" y="1474907"/>
            <a:ext cx="915226" cy="1292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3025" y="1474900"/>
            <a:ext cx="1292775" cy="12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00" y="1565263"/>
            <a:ext cx="1112025" cy="11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39525" y="1549713"/>
            <a:ext cx="1143124" cy="114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14900" y="1497288"/>
            <a:ext cx="1248000" cy="12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326370" y="1565813"/>
            <a:ext cx="1143126" cy="111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2944" y="2796607"/>
            <a:ext cx="1143125" cy="1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72500" y="2836962"/>
            <a:ext cx="1143126" cy="114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22075" y="2890450"/>
            <a:ext cx="1481300" cy="11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03375" y="2925950"/>
            <a:ext cx="1112026" cy="111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220073" y="2874375"/>
            <a:ext cx="1143126" cy="114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567875" y="2925925"/>
            <a:ext cx="1112025" cy="1156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915674" y="2925977"/>
            <a:ext cx="1143125" cy="1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0232369" y="2863194"/>
            <a:ext cx="1143125" cy="1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</p:spPr>
        <p:txBody>
          <a:bodyPr anchorCtr="0" anchor="ctr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Аутентификация и авторизация</a:t>
            </a:r>
            <a:endParaRPr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184705" y="1467638"/>
            <a:ext cx="5760600" cy="4932300"/>
          </a:xfrm>
          <a:prstGeom prst="rect">
            <a:avLst/>
          </a:prstGeom>
        </p:spPr>
        <p:txBody>
          <a:bodyPr anchorCtr="0" anchor="t" bIns="95225" lIns="95225" spcFirstLastPara="1" rIns="95225" wrap="square" tIns="952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JWT-токены: 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Безопасная аутентификация пользователей осуществляется с использованием токенов, которые сохраняются в локальном хранилище браузера.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Управление токенами: 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При истечении срока действия токена выполняется автоматическое обновление и повторная отправка запросов, что обеспечивает непрерывный доступ к системе.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RBAC: 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В системе определены три роли: READ (просмотр данных), READ_WRITE (создание и управление задачами обхода), и ADMINISTRATOR (полный контроль над системой, включая управление пользователями и рабочими узлами). Доступ к операциям API и функциям пользовательского интерфейса ограничивается в соответствии с ролью пользователя.</a:t>
            </a:r>
            <a:endParaRPr/>
          </a:p>
        </p:txBody>
      </p:sp>
      <p:pic>
        <p:nvPicPr>
          <p:cNvPr id="323" name="Google Shape;3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51" y="1616750"/>
            <a:ext cx="5914601" cy="43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</p:spPr>
        <p:txBody>
          <a:bodyPr anchorCtr="0" anchor="ctr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Страница Crawl Job</a:t>
            </a:r>
            <a:endParaRPr/>
          </a:p>
        </p:txBody>
      </p:sp>
      <p:pic>
        <p:nvPicPr>
          <p:cNvPr id="332" name="Google Shape;3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00" y="1469025"/>
            <a:ext cx="4876538" cy="4867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838" y="2290575"/>
            <a:ext cx="6655863" cy="274200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</p:spPr>
        <p:txBody>
          <a:bodyPr anchorCtr="0" anchor="ctr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Crawl Job</a:t>
            </a:r>
            <a:endParaRPr/>
          </a:p>
        </p:txBody>
      </p:sp>
      <p:pic>
        <p:nvPicPr>
          <p:cNvPr id="342" name="Google Shape;3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175" y="1469025"/>
            <a:ext cx="5473813" cy="4867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3400" y="1469025"/>
            <a:ext cx="5551599" cy="489746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1" name="Google Shape;351;p29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Текущее состояние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740925" y="1449400"/>
            <a:ext cx="115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54" name="Google Shape;3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Denis Miroshnichenko, “Distributed System for Collecting and Processing Web Data”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179600" y="2223300"/>
            <a:ext cx="116532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Проведен анализ существующих конкурентных решений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Определены и задокументированы требования к проекту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Разработан рабочий прототип системы, включающий: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Реализацию основных компонентов системы	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Разработку веб-интерфейса (Web UI)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DSL (предметно-ориентированный язык) для описания правил парсинга данных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Механизм ограничения скорости запросов (rate limiting) и балансировку нагрузки на основе weight round robin очереди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Скрипты развертывания с использованием Docker и Helm для Kubernetes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2" name="Google Shape;362;p30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Дальнейшая работа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740925" y="1449400"/>
            <a:ext cx="115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65" name="Google Shape;3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400" y="6550950"/>
            <a:ext cx="3985050" cy="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0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Denis Miroshnichenko, “Distributed System for Collecting and Processing Web Data”</a:t>
            </a:r>
            <a:endParaRPr/>
          </a:p>
        </p:txBody>
      </p:sp>
      <p:sp>
        <p:nvSpPr>
          <p:cNvPr id="367" name="Google Shape;367;p30"/>
          <p:cNvSpPr txBox="1"/>
          <p:nvPr/>
        </p:nvSpPr>
        <p:spPr>
          <a:xfrm>
            <a:off x="103400" y="3061506"/>
            <a:ext cx="121920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Улучшение и доработка дизайна пользовательского интерфейса (UI/UX)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Разработка автоматизированных тестов для обеспечения качества системы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-RU" sz="1700">
                <a:solidFill>
                  <a:schemeClr val="dk1"/>
                </a:solidFill>
              </a:rPr>
              <a:t>Подготовка документации по развертыванию и использованию компонентов системы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</p:spPr>
        <p:txBody>
          <a:bodyPr anchorCtr="0" anchor="ctr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Демо</a:t>
            </a:r>
            <a:endParaRPr/>
          </a:p>
        </p:txBody>
      </p:sp>
      <p:sp>
        <p:nvSpPr>
          <p:cNvPr id="374" name="Google Shape;374;p31"/>
          <p:cNvSpPr txBox="1"/>
          <p:nvPr>
            <p:ph idx="1" type="body"/>
          </p:nvPr>
        </p:nvSpPr>
        <p:spPr>
          <a:xfrm>
            <a:off x="335360" y="1508787"/>
            <a:ext cx="11617200" cy="4932300"/>
          </a:xfrm>
          <a:prstGeom prst="rect">
            <a:avLst/>
          </a:prstGeom>
        </p:spPr>
        <p:txBody>
          <a:bodyPr anchorCtr="0" anchor="t" bIns="95225" lIns="95225" spcFirstLastPara="1" rIns="95225" wrap="square" tIns="952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1" title="2026-03-17 13-41-0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"/>
          <p:cNvSpPr txBox="1"/>
          <p:nvPr>
            <p:ph idx="12" type="sldNum"/>
          </p:nvPr>
        </p:nvSpPr>
        <p:spPr>
          <a:xfrm>
            <a:off x="11745492" y="6489340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1" name="Google Shape;381;p32"/>
          <p:cNvSpPr txBox="1"/>
          <p:nvPr>
            <p:ph type="title"/>
          </p:nvPr>
        </p:nvSpPr>
        <p:spPr>
          <a:xfrm>
            <a:off x="1391477" y="68625"/>
            <a:ext cx="108003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Список использованных источников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2"/>
          <p:cNvSpPr txBox="1"/>
          <p:nvPr>
            <p:ph idx="11" type="ftr"/>
          </p:nvPr>
        </p:nvSpPr>
        <p:spPr>
          <a:xfrm>
            <a:off x="3215633" y="6489332"/>
            <a:ext cx="835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C68"/>
              </a:buClr>
              <a:buSzPts val="1200"/>
              <a:buFont typeface="Arial"/>
              <a:buNone/>
            </a:pPr>
            <a:r>
              <a:rPr lang="ru-RU"/>
              <a:t>Д.А. Мирошниченко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, ВКР «</a:t>
            </a:r>
            <a:r>
              <a:rPr lang="ru-RU"/>
              <a:t>Распределенная система сбора и обработки веб данных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»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 txBox="1"/>
          <p:nvPr/>
        </p:nvSpPr>
        <p:spPr>
          <a:xfrm>
            <a:off x="2798155" y="6479295"/>
            <a:ext cx="39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F2C6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19500" y="1449400"/>
            <a:ext cx="121530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Go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https://go.dev/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Angular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https://angular.dev/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HTML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https://developer.mozilla.org/en-US/docs/Web/HTML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CSS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https://developer.mozilla.org/en-US/docs/Web/CSS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Git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https://git-scm.com/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GitHub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https://github.com/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Docker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https://www.docker.com/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Kubernetes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https://kubernetes.io/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Helm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https://helm.sh/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RabbitMQ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https://www.rabbitmq.com/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Apache Kafka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https://kafka.apache.org/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Redis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https://redis.io/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PostgreSQL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https://www.postgresql.org/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Grafana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https://grafana.com/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Prometheus </a:t>
            </a:r>
            <a:r>
              <a:rPr lang="ru-RU" sz="1100">
                <a:solidFill>
                  <a:schemeClr val="dk1"/>
                </a:solidFill>
              </a:rPr>
              <a:t>—</a:t>
            </a:r>
            <a:r>
              <a:rPr lang="ru-RU" sz="1100">
                <a:solidFill>
                  <a:schemeClr val="dk1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https://prometheus.io/</a:t>
            </a:r>
            <a:r>
              <a:rPr lang="ru-RU" sz="1100">
                <a:solidFill>
                  <a:schemeClr val="dk1"/>
                </a:solidFill>
              </a:rPr>
              <a:t> [электронный ресурс, дата обращения 22.01.2026]</a:t>
            </a:r>
            <a:endParaRPr sz="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